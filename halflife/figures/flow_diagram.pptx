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441680" cy="14721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0"/>
            <a:ext cx="347472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Census and manual coding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" y="566928"/>
            <a:ext cx="3474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82880" y="868680"/>
            <a:ext cx="3474720" cy="8183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117 model identifiers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11111"/>
                </a:solidFill>
                <a:latin typeface="Arial"/>
              </a:rPr>
              <a:t>retired or with a published retirement date</a:t>
            </a:r>
          </a:p>
          <a:p>
            <a:pPr algn="ctr"/>
            <a:r>
              <a:rPr sz="800" b="0">
                <a:solidFill>
                  <a:srgbClr val="111111"/>
                </a:solidFill>
                <a:latin typeface="Arial"/>
              </a:rPr>
              <a:t>55 on 2 Sept + 20 on 2 Oct + 6 on 11 Oct + 36 on 12 Oct 2026</a:t>
            </a:r>
          </a:p>
          <a:p>
            <a:pPr algn="ctr"/>
            <a:r>
              <a:rPr sz="800" b="0">
                <a:solidFill>
                  <a:srgbClr val="111111"/>
                </a:solidFill>
                <a:latin typeface="Arial"/>
              </a:rPr>
              <a:t>OpenAI 57, Anthropic 32, Google 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1705356"/>
            <a:ext cx="0" cy="1271778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80" y="2995422"/>
            <a:ext cx="3474720" cy="8183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48,077 + 159,102 + 3,275 + 41,140 identifier–work records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11111"/>
                </a:solidFill>
                <a:latin typeface="Arial"/>
              </a:rPr>
              <a:t>OpenAlex full-text search, four harvests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3832098"/>
            <a:ext cx="0" cy="1271778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82880" y="5122164"/>
            <a:ext cx="3474720" cy="8183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32,982 + 16,771 + 7,561 + 19,548 works considered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5958840"/>
            <a:ext cx="0" cy="1271778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20240" y="6594729"/>
            <a:ext cx="182880" cy="0"/>
          </a:xfrm>
          <a:prstGeom prst="line">
            <a:avLst/>
          </a:prstGeom>
          <a:ln w="762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76272" y="6251829"/>
            <a:ext cx="2377440" cy="685800"/>
          </a:xfrm>
          <a:prstGeom prst="rect">
            <a:avLst/>
          </a:prstGeom>
          <a:noFill/>
          <a:effectLst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5,053 + 3,704 + 3,632 + 2,407 year false positives,</a:t>
            </a:r>
          </a:p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duplicate titles and undated works removed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7248906"/>
            <a:ext cx="3474720" cy="8183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27,929 + 13,067 + 3,929 + 17,141 works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20240" y="8085582"/>
            <a:ext cx="0" cy="1271778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20240" y="8721471"/>
            <a:ext cx="182880" cy="0"/>
          </a:xfrm>
          <a:prstGeom prst="line">
            <a:avLst/>
          </a:prstGeom>
          <a:ln w="762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76272" y="8378571"/>
            <a:ext cx="2377440" cy="685800"/>
          </a:xfrm>
          <a:prstGeom prst="rect">
            <a:avLst/>
          </a:prstGeom>
          <a:noFill/>
          <a:effectLst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885 + 664 + 649 + 1,248 without a DOI or arXiv</a:t>
            </a:r>
          </a:p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identifier removed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9375648"/>
            <a:ext cx="3474720" cy="8183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58,620 works = census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11111"/>
                </a:solidFill>
                <a:latin typeface="Arial"/>
              </a:rPr>
              <a:t>time to loss (Fig. 2)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10212324"/>
            <a:ext cx="0" cy="1271778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920240" y="10848213"/>
            <a:ext cx="182880" cy="0"/>
          </a:xfrm>
          <a:prstGeom prst="line">
            <a:avLst/>
          </a:prstGeom>
          <a:ln w="762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76272" y="10505313"/>
            <a:ext cx="2377440" cy="685800"/>
          </a:xfrm>
          <a:prstGeom prst="rect">
            <a:avLst/>
          </a:prstGeom>
          <a:noFill/>
          <a:effectLst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coding sample drawn from the</a:t>
            </a:r>
          </a:p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27,044 of 2 Sept; 395 without</a:t>
            </a:r>
          </a:p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English metadata excluded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1502390"/>
            <a:ext cx="3474720" cy="8183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26,649 with English metadata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20240" y="12339066"/>
            <a:ext cx="0" cy="1271778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82880" y="13629132"/>
            <a:ext cx="3474720" cy="818388"/>
          </a:xfrm>
          <a:prstGeom prst="rect">
            <a:avLst/>
          </a:prstGeom>
          <a:solidFill>
            <a:srgbClr val="E8EEF4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590 sampled for manual coding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11111"/>
                </a:solidFill>
                <a:latin typeface="Arial"/>
              </a:rPr>
              <a:t>pilot 30, main 500, reserve 60</a:t>
            </a:r>
          </a:p>
          <a:p>
            <a:pPr algn="ctr"/>
            <a:r>
              <a:rPr sz="800" b="0">
                <a:solidFill>
                  <a:srgbClr val="111111"/>
                </a:solidFill>
                <a:latin typeface="Arial"/>
              </a:rPr>
              <a:t>four coders, two per paper, a third on disagreement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82880"/>
            <a:ext cx="347472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Prompt-level re-execution (Tier B)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0" y="566928"/>
            <a:ext cx="3474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572000" y="868680"/>
            <a:ext cx="3474720" cy="8183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3,644 papers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11111"/>
                </a:solidFill>
                <a:latin typeface="Arial"/>
              </a:rPr>
              <a:t>artefact links or open-access text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09360" y="1705356"/>
            <a:ext cx="0" cy="740092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572000" y="2463736"/>
            <a:ext cx="3474720" cy="8183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2,885 full texts obtained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09360" y="3300412"/>
            <a:ext cx="0" cy="740093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309360" y="3670458"/>
            <a:ext cx="182880" cy="0"/>
          </a:xfrm>
          <a:prstGeom prst="line">
            <a:avLst/>
          </a:prstGeom>
          <a:ln w="762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65392" y="3327558"/>
            <a:ext cx="2377440" cy="685800"/>
          </a:xfrm>
          <a:prstGeom prst="rect">
            <a:avLst/>
          </a:prstGeom>
          <a:noFill/>
          <a:effectLst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833 name no still-callable</a:t>
            </a:r>
          </a:p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identifier in the body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058793"/>
            <a:ext cx="3474720" cy="8183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1,198 prompt-complete, unflagged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11111"/>
                </a:solidFill>
                <a:latin typeface="Arial"/>
              </a:rPr>
              <a:t>2,052 name a still-callable identifier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09360" y="4895469"/>
            <a:ext cx="0" cy="740092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572000" y="5653849"/>
            <a:ext cx="3474720" cy="8183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1,185 read by triage agents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11111"/>
                </a:solidFill>
                <a:latin typeface="Arial"/>
              </a:rPr>
              <a:t>600 first pass, 585 second pass</a:t>
            </a:r>
          </a:p>
          <a:p>
            <a:pPr algn="ctr"/>
            <a:r>
              <a:rPr sz="800" b="0">
                <a:solidFill>
                  <a:srgbClr val="111111"/>
                </a:solidFill>
                <a:latin typeface="Arial"/>
              </a:rPr>
              <a:t>eligible 158, conditional 265, ineligible 760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09360" y="6490525"/>
            <a:ext cx="0" cy="740093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309360" y="6860571"/>
            <a:ext cx="182880" cy="0"/>
          </a:xfrm>
          <a:prstGeom prst="line">
            <a:avLst/>
          </a:prstGeom>
          <a:ln w="762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65392" y="6517671"/>
            <a:ext cx="2377440" cy="685800"/>
          </a:xfrm>
          <a:prstGeom prst="rect">
            <a:avLst/>
          </a:prstGeom>
          <a:noFill/>
          <a:effectLst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conditionals resolved: 57 eligible, 66 need</a:t>
            </a:r>
          </a:p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the repository, 9 a figure read, 7 ineligible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7248906"/>
            <a:ext cx="3474720" cy="8183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216 eligible papers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11111"/>
                </a:solidFill>
                <a:latin typeface="Arial"/>
              </a:rPr>
              <a:t>215 run configurations written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09360" y="8085582"/>
            <a:ext cx="0" cy="740092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309360" y="8455628"/>
            <a:ext cx="182880" cy="0"/>
          </a:xfrm>
          <a:prstGeom prst="line">
            <a:avLst/>
          </a:prstGeom>
          <a:ln w="762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65392" y="8112728"/>
            <a:ext cx="2377440" cy="685800"/>
          </a:xfrm>
          <a:prstGeom prst="rect">
            <a:avLst/>
          </a:prstGeom>
          <a:noFill/>
          <a:effectLst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127 need a human decision;</a:t>
            </a:r>
          </a:p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2 gated data sets excluded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8843962"/>
            <a:ext cx="3474720" cy="8183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86 configurations ready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11111"/>
                </a:solidFill>
                <a:latin typeface="Arial"/>
              </a:rPr>
              <a:t>58 + 3 after a data check + 25 second pass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309360" y="9680638"/>
            <a:ext cx="0" cy="740093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572000" y="10439019"/>
            <a:ext cx="3474720" cy="818388"/>
          </a:xfrm>
          <a:prstGeom prst="rect">
            <a:avLst/>
          </a:prstGeom>
          <a:solidFill>
            <a:srgbClr val="E8EEF4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86 executed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11111"/>
                </a:solidFill>
                <a:latin typeface="Arial"/>
              </a:rPr>
              <a:t>judged: reproduced 54 · close 10 · deviated 20 · could not judge 2</a:t>
            </a:r>
          </a:p>
          <a:p>
            <a:pPr algn="ctr"/>
            <a:r>
              <a:rPr sz="800" b="0">
                <a:solidFill>
                  <a:srgbClr val="111111"/>
                </a:solidFill>
                <a:latin typeface="Arial"/>
              </a:rPr>
              <a:t>4 cap-stopped finished · 3 subsets extended · 2 repaired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309360" y="11275695"/>
            <a:ext cx="0" cy="740092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309360" y="11645741"/>
            <a:ext cx="182880" cy="0"/>
          </a:xfrm>
          <a:prstGeom prst="line">
            <a:avLst/>
          </a:prstGeom>
          <a:ln w="762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65392" y="11302841"/>
            <a:ext cx="2377440" cy="685800"/>
          </a:xfrm>
          <a:prstGeom prst="rect">
            <a:avLst/>
          </a:prstGeom>
          <a:noFill/>
          <a:effectLst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12 too costly at successor prices;</a:t>
            </a:r>
          </a:p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7 bias audits kept off third-party accounts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12034075"/>
            <a:ext cx="3474720" cy="8183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Successor comparison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11111"/>
                </a:solidFill>
                <a:latin typeface="Arial"/>
              </a:rPr>
              <a:t>one pass per item, same items and scoring</a:t>
            </a:r>
          </a:p>
          <a:p>
            <a:pPr algn="ctr"/>
            <a:r>
              <a:rPr sz="800" b="0">
                <a:solidFill>
                  <a:srgbClr val="111111"/>
                </a:solidFill>
                <a:latin typeface="Arial"/>
              </a:rPr>
              <a:t>replacement 74 · gpt-4.1 49 · Llama 70B 67 · Gemini 67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309360" y="12870751"/>
            <a:ext cx="0" cy="740093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309360" y="13240797"/>
            <a:ext cx="182880" cy="0"/>
          </a:xfrm>
          <a:prstGeom prst="line">
            <a:avLst/>
          </a:prstGeom>
          <a:ln w="762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65392" y="12897897"/>
            <a:ext cx="2377440" cy="685800"/>
          </a:xfrm>
          <a:prstGeom prst="rect">
            <a:avLst/>
          </a:prstGeom>
          <a:noFill/>
          <a:effectLst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1 self-identification task not transferable;</a:t>
            </a:r>
          </a:p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format failures 1 · 1 · 2 · 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13629132"/>
            <a:ext cx="3474720" cy="818388"/>
          </a:xfrm>
          <a:prstGeom prst="rect">
            <a:avLst/>
          </a:prstGeom>
          <a:solidFill>
            <a:srgbClr val="E8EEF4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Scorable 72 · 48 · 64 · 66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11111"/>
                </a:solidFill>
                <a:latin typeface="Arial"/>
              </a:rPr>
              <a:t>judged: moved more than 5 points from the reported value</a:t>
            </a:r>
          </a:p>
          <a:p>
            <a:pPr algn="ctr"/>
            <a:r>
              <a:rPr sz="800" b="0">
                <a:solidFill>
                  <a:srgbClr val="111111"/>
                </a:solidFill>
                <a:latin typeface="Arial"/>
              </a:rPr>
              <a:t>38 (53%) · 23 (48%) · 43 (67%) · 43 (65%)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19" y="182880"/>
            <a:ext cx="347472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Arial"/>
              </a:rPr>
              <a:t>Repository-based re-execution (Tier A)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961119" y="566928"/>
            <a:ext cx="3474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8961119" y="868680"/>
            <a:ext cx="3474720" cy="8183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1,964 candidates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11111"/>
                </a:solidFill>
                <a:latin typeface="Arial"/>
              </a:rPr>
              <a:t>papers naming a model on the 2026-10-23</a:t>
            </a:r>
          </a:p>
          <a:p>
            <a:pPr algn="ctr"/>
            <a:r>
              <a:rPr sz="800" b="0">
                <a:solidFill>
                  <a:srgbClr val="111111"/>
                </a:solidFill>
                <a:latin typeface="Arial"/>
              </a:rPr>
              <a:t>shutdown list, with artefacts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698480" y="1705356"/>
            <a:ext cx="0" cy="3398520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961119" y="5122164"/>
            <a:ext cx="3474720" cy="8183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70 claim cards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11111"/>
                </a:solidFill>
                <a:latin typeface="Arial"/>
              </a:rPr>
              <a:t>two shortlists, 46 + 24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698480" y="5958840"/>
            <a:ext cx="0" cy="3398520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698480" y="7658100"/>
            <a:ext cx="182879" cy="0"/>
          </a:xfrm>
          <a:prstGeom prst="line">
            <a:avLst/>
          </a:prstGeom>
          <a:ln w="762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0954511" y="7315200"/>
            <a:ext cx="2350008" cy="685800"/>
          </a:xfrm>
          <a:prstGeom prst="rect">
            <a:avLst/>
          </a:prstGeom>
          <a:noFill/>
          <a:effectLst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33 blocked: alias to a retired snapshot 18,</a:t>
            </a:r>
          </a:p>
          <a:p>
            <a:pPr algn="l"/>
            <a:r>
              <a:rPr sz="800" b="0">
                <a:solidFill>
                  <a:srgbClr val="6B6B6B"/>
                </a:solidFill>
                <a:latin typeface="Arial"/>
              </a:rPr>
              <a:t>web interface 4, human outcome 3, data 3, other 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61119" y="9375648"/>
            <a:ext cx="3474720" cy="8183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37 runnable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11111"/>
                </a:solidFill>
                <a:latin typeface="Arial"/>
              </a:rPr>
              <a:t>25 executed, 2 drafts, 10 await a decision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698480" y="10212324"/>
            <a:ext cx="0" cy="3398520"/>
          </a:xfrm>
          <a:prstGeom prst="line">
            <a:avLst/>
          </a:prstGeom>
          <a:ln w="952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8961119" y="13629132"/>
            <a:ext cx="3474720" cy="818388"/>
          </a:xfrm>
          <a:prstGeom prst="rect">
            <a:avLst/>
          </a:prstGeom>
          <a:solidFill>
            <a:srgbClr val="E8EEF4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25 executed</a:t>
            </a:r>
          </a:p>
          <a:p>
            <a:pPr algn="ctr">
              <a:spcBef>
                <a:spcPts val="300"/>
              </a:spcBef>
            </a:pPr>
            <a:r>
              <a:rPr sz="800" b="0">
                <a:solidFill>
                  <a:srgbClr val="111111"/>
                </a:solidFill>
                <a:latin typeface="Arial"/>
              </a:rPr>
              <a:t>judged: survived 12 · partial 12 · could not judge 1 · died 0</a:t>
            </a:r>
          </a:p>
          <a:p>
            <a:pPr algn="ctr"/>
            <a:r>
              <a:rPr sz="800" b="0">
                <a:solidFill>
                  <a:srgbClr val="111111"/>
                </a:solidFill>
                <a:latin typeface="Arial"/>
              </a:rPr>
              <a:t>118,321 calls, $372</a:t>
            </a:r>
          </a:p>
          <a:p>
            <a:pPr algn="ctr"/>
            <a:r>
              <a:rPr sz="800" b="0">
                <a:solidFill>
                  <a:srgbClr val="111111"/>
                </a:solidFill>
                <a:latin typeface="Arial"/>
              </a:rPr>
              <a:t>4 also run at prompt level as a validity 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